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54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164592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Urban Traffic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 Dublin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Data Fusion: SCATS Traffic · Weather · Public Events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8321040" cy="18288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Continuous Assessment  |  Jules Francois – Quentin Chofflet  |  Dublin City University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achieve?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394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91440" cy="338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machine learning models capable of accurately forecasting urban traffic congestion patterns across Dublin using fused multi-source data.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fuse traffic, weather, and events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informative temporal and spatial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multiple ML models (RF, XGBoost, LightGBM)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congestion predictors for Dublin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880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260604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8653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RMSE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396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speed prediction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526075"/>
            <a:ext cx="260604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26480" y="25968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8712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quality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3238611"/>
            <a:ext cx="260604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126480" y="33284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6027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964318"/>
            <a:ext cx="260604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40599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43342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600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SCATS traffic sensors · Visual Crossing weather · Dublin public events (Jan–Jun 2023)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93192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7614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→ Cleaning → Fusion → Feature Engineering → Modelling → Evaluation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55701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557016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3192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36484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227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XGBoost · LightGBM — compared on RMSE, MAE and R²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2803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day, day of week, rush hour flags, lag features, weather severity, event proximity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9572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754880" y="2395728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28032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27614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urban planning decisions and real-time traffic management in Dublin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traffic congestion prediction matter?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Greater Dublin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SCATS sensor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interval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72200" y="12801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together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91440" cy="1920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090672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traffic congestion in Dublin causes significant economic losses, increased emissions and reduced quality of life.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reactive approaches cannot anticipate congestion before it forms. There is a need for a data-driven predictive model that integrates multiple real-world signals — traffic flow, weather conditions, and scheduled public events — to forecast congestion in advance.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value, and success criteria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City Council — traffic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Infrastructure Ireland (TII)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 requiring clear routes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commuters &amp; public transport users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commuters &amp; public transport users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55848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average commute times during peak hours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proactive road management decisions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scheduling around events at Croke Park / Aviva Stadium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carbon emissions from idling traffic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carbon emissions from idling traffic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208776" y="123444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00216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82880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&lt; 5 km/h on speed prediction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0.85 on held-out test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interpretable for traffic planners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available at hourly resolution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available at hourly resolution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timeline &amp; tooling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CRISP-DM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2344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9496" y="179222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1737360"/>
            <a:ext cx="12344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865376" y="179222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737360"/>
            <a:ext cx="12344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91256" y="179222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331720"/>
            <a:ext cx="12344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9496" y="238658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2331720"/>
            <a:ext cx="12344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865376" y="238658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331720"/>
            <a:ext cx="12344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191256" y="2386584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 ·  pandas  ·  scikit-learn  ·  XGBoost  ·  LightGBM  ·  Jupyter  ·  matplotlib / seaborn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1887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18196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1819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exploration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276856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2313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97880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770632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54880" y="2807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2807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 &amp; alignment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264408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0" y="3300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97880" y="3300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758184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5488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978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tuning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224528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754880" y="4288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97880" y="4288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data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743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SCATS Traffic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Dublin City Council / data.gov.ie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 – Jun 2023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15-minute intervals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2560320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(km/h)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(%)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64408" y="1234440"/>
            <a:ext cx="274320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355848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Visual Crossing API / Met Éireann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 – Jun 2023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Hourly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2560320"/>
            <a:ext cx="2560320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55848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28803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(mm)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 (km/h)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(km)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208776" y="123444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00216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Events 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0216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Dublin City Council / data.gov.ie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 – Jun 2023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0216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Per event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0216" y="2560320"/>
            <a:ext cx="2560320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300216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28803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/ end_date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expected_attendance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insights from each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Exploratory Findings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94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17282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morning (07–09h) &amp; evening (17–19h) rush hour peaks across all sensors; weekend volumes ~35% lower than weekdays.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594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23134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concentrated on M50, N11, Liffey crossings, and city centre corridors — aligns with known bottlenecks.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594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907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2898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rainy days in the period; heavy rain (&gt;5mm) correlates with measurable speed reduction.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594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4838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events (Croke Park, Aviva) visibly spike nearby sensor volumes by up to 60% 2h before start.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594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4069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~3.2% of traffic readings missing; concentrated during scheduled sensor maintenance windows.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188720"/>
            <a:ext cx="3246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715000" y="13258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by Hour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3785616"/>
            <a:ext cx="105156" cy="6035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829300" y="3785616"/>
            <a:ext cx="105156" cy="6035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943600" y="3986784"/>
            <a:ext cx="105156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057900" y="3986784"/>
            <a:ext cx="105156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105156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286500" y="3584448"/>
            <a:ext cx="105156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400800" y="2679192"/>
            <a:ext cx="105156" cy="1709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515100" y="2377440"/>
            <a:ext cx="105156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629400" y="2478024"/>
            <a:ext cx="105156" cy="1911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6743700" y="3081528"/>
            <a:ext cx="105156" cy="13075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858000" y="3182112"/>
            <a:ext cx="105156" cy="1207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972300" y="3081528"/>
            <a:ext cx="105156" cy="13075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7086600" y="2980944"/>
            <a:ext cx="105156" cy="14081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200900" y="3081528"/>
            <a:ext cx="105156" cy="13075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7315200" y="3182112"/>
            <a:ext cx="105156" cy="1207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429500" y="3081528"/>
            <a:ext cx="105156" cy="13075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543800" y="2679192"/>
            <a:ext cx="105156" cy="1709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658100" y="2377440"/>
            <a:ext cx="105156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772400" y="2478024"/>
            <a:ext cx="105156" cy="1911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7886700" y="2980944"/>
            <a:ext cx="105156" cy="14081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8001000" y="3282696"/>
            <a:ext cx="105156" cy="11064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8115300" y="3483864"/>
            <a:ext cx="105156" cy="90525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8229600" y="3584448"/>
            <a:ext cx="105156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8343900" y="3685032"/>
            <a:ext cx="105156" cy="7040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715000" y="44074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0        6       12       18      23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00" y="45902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 (highlighted = rush hour)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preprocessing, and fusion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2331720"/>
            <a:ext cx="25603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423160" y="230428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874520"/>
            <a:ext cx="1737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gaps &lt; 2h;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sensors with &gt; 5% missing;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short weather gaps.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6552" y="2331720"/>
            <a:ext cx="25603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99432" y="230428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496312" y="123444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496312" y="123444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96312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96312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87752" y="1874520"/>
            <a:ext cx="1737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(×1.5);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∈ [0, 130] km/h;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∈ [0, 800 veh/15min].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92824" y="2331720"/>
            <a:ext cx="25603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775704" y="230428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72584" y="123444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72584" y="123444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72584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72584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Align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1874520"/>
            <a:ext cx="1737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standardised to UTC;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aggregated from 15-min to hourly;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offset applied.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48856" y="123444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848856" y="123444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848856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48856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296" y="1874520"/>
            <a:ext cx="1737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merge (1h tolerance);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flagged within ±6h window;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CSV: 4,320 hourly rows.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merged_traffic_weather_events.csv  —  4,320 hourly rows · 35 base columns · Clean &amp; aligned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predictive signals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3327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42416"/>
            <a:ext cx="4206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1142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Time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79996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month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is_weekend, is_rush_hour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is_morning_rush / is_evening_rush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(sin/cos) for hour, day, month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3327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041084"/>
            <a:ext cx="4206240" cy="4206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1138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Lag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speed_lag_1h, speed_lag_24h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volume_lag_1h, volume_lag_24h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speed_rolling_mean_3h / 24h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speed_rolling_std_3h / 24h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420624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2935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Weather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93475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is_raining, heavy_rain (&gt;5mm)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is_cold (&lt;5°C), poor_visibility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high_wind (&gt;50 km/h)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weather_severity index (0–9)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2870610"/>
            <a:ext cx="4206240" cy="4206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294376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Event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00984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is_event_active (binary)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event_count (concurrent events)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hours_to_next_event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event_attendance_category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6908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speed (km/h) for regression  ·  is_congested (speed &lt; 30 km/h) for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and model selection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3911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Jan–Apr (train) / May–Jun (test) — preserves time-ordering to avoid data leakage.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51176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551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0720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time-series CV with a 1-week gap between folds to prevent future data leakage.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319272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4360" y="3319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57530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n_estimators, max_depth, and learning_rate for XGBoost and LightGBM.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87368"/>
            <a:ext cx="7315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40873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434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numerical features; categorical features label-encoded.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39776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92040" y="1847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n_estimators=300, max_depth=12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ensemble — robust, interpretable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39776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92040" y="2898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3182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lr=0.1, depth=6, n_estimators=200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handles complex non-linearities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39776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C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92040" y="3950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233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lr=0.05, depth=8, n_estimators=300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GBDT — efficient on large tabular datasets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and performance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(km/h)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(km/h)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1261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 (s)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673352"/>
            <a:ext cx="8503920" cy="530352"/>
          </a:xfrm>
          <a:prstGeom prst="rect">
            <a:avLst/>
          </a:prstGeom>
          <a:solidFill>
            <a:srgbClr val="EAF5FB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73152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737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240280"/>
            <a:ext cx="8503920" cy="530352"/>
          </a:xfrm>
          <a:prstGeom prst="rect">
            <a:avLst/>
          </a:prstGeom>
          <a:solidFill>
            <a:srgbClr val="F4F9FC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3042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8072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28712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11680" y="2871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2871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871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2871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320040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2920" y="3337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" y="3634740"/>
            <a:ext cx="868680" cy="65151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69164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lag_24h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83080" y="3751326"/>
            <a:ext cx="868680" cy="5349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88036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71800" y="3840480"/>
            <a:ext cx="868680" cy="44577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06908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rolling_3h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60520" y="3888486"/>
            <a:ext cx="868680" cy="3977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25780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rush_hour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49240" y="3943350"/>
            <a:ext cx="868680" cy="3429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4652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37960" y="4046220"/>
            <a:ext cx="868680" cy="24003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635240" y="429539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event_active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726680" y="4135374"/>
            <a:ext cx="868680" cy="1508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operational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743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via joblib (.pkl)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artefact storage (Git LFS)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bundled with model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schema documented for inference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74320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55848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78308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 — FastAPI / Flask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/predict: accepts timestamp + location + weather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predicted speed &amp; congestion probability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via API key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208776" y="1234440"/>
            <a:ext cx="27432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00216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78308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drift detection (PSI)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MAE tracked weekly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re-train trigger if RMSE &gt; 6 km/h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via structured JSON to Grafana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&amp; prediction pipeline (flow chart)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7373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307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280160"/>
            <a:ext cx="173736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331720" y="1307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Crossing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1737360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43400" y="13075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926080"/>
            <a:ext cx="4206240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325880" y="304495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 &amp; Temporal Alignment (fusion.py)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0159" y="3568734"/>
            <a:ext cx="4206240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325880" y="377647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(features.py)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286000"/>
            <a:ext cx="265176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97880" y="2313432"/>
            <a:ext cx="2560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XGBoost · LightGBM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4206240"/>
            <a:ext cx="26517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897880" y="4233672"/>
            <a:ext cx="25603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Prediction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endpoint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1828800"/>
            <a:ext cx="0" cy="74295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154680" y="1828800"/>
            <a:ext cx="9144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166360" y="1828800"/>
            <a:ext cx="9144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70F0AF0C-AC08-F9E6-1246-052D310DDC42}"/>
              </a:ext>
            </a:extLst>
          </p:cNvPr>
          <p:cNvSpPr/>
          <p:nvPr/>
        </p:nvSpPr>
        <p:spPr>
          <a:xfrm>
            <a:off x="1137600" y="2570867"/>
            <a:ext cx="28511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383280" y="2834640"/>
            <a:ext cx="0" cy="74091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383280" y="3474720"/>
            <a:ext cx="0" cy="9401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486400" y="3200400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178040" y="4023360"/>
            <a:ext cx="9144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11430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2104059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80160" y="2286000"/>
            <a:ext cx="4206240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25880" y="23134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Cleaning (preprocessing.py)</a:t>
            </a:r>
            <a:endParaRPr lang="en-US" sz="11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A5213084-01EF-11FE-C619-C7A5015C0800}"/>
              </a:ext>
            </a:extLst>
          </p:cNvPr>
          <p:cNvSpPr/>
          <p:nvPr/>
        </p:nvSpPr>
        <p:spPr>
          <a:xfrm>
            <a:off x="5486400" y="3825139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produces and how it's used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029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Speed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8653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km/h — primary regression output; 1-hour ahead forecast per sensor 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6032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2624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Flag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5968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is_congested (boolean) — speed &lt; 30 km/h threshold; used for alerting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3355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Probability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284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score from classifier; enables tiered alerts (low / medium / high)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4087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40599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±1σ from ensemble tree predictions; used to indicate forecast reliability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234440"/>
            <a:ext cx="3246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577840" y="1234440"/>
            <a:ext cx="32461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669280" y="1280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API Response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3560" y="1691640"/>
            <a:ext cx="3154680" cy="269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715000" y="173736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"location_id": "DCC_042",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"2023-05-15 08:00",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"predicted_speed": 24.3,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"is_congested": true,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"congestion_prob": 0.82,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"confidence_lower": 20.1,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"confidence_upper": 28.5,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"LightGBM-v1.2"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and research directions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4206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130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Enhancement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real-time Waze / Google Maps incidents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public transport load (Luas, Dublin Bus)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dataset to full 2023 and 2024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road works &amp; construction events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206240" cy="4206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124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Modelling Upgrades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Temporal CNN for sequential traffic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for sensor interactions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model: predict multiple sensors simultaneously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optimisation for hyperparameter search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206240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Deployment &amp; Scaling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with Docker &amp; deploy to AWS / Azure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 with Apache Kafka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Dublin City Council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alert integration for commuters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206240" cy="42062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Evaluation Rigour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Location-specific model evaluation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ARIMA / SARIMA baselines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A/B testing in pilot corridors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with TII sensor data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tools, and academic literature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CA683 — Dublin Traffic Congestion Prediction  |  Jules Francois – Quentin Chofflet  |  DCU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" y="170992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21208" y="17099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City Council SCATS Traffic Data. data.smartdublin.ie/dataset/scats-traffic-data (2023)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2459736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21208" y="24597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Crossing Weather API. visualcrossing.com — Dublin, Ireland, Jan–Jun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" y="320954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1208" y="3209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Éireann Historical Data. met.ie/climate/available-data — Dublin Airport Station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395935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21208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City Council Public Events. data.gov.ie — Events &amp; Road Closures Jan–Jun 2023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64408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64408" y="123444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55848" y="1280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170992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65576" y="17099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Machine Learning in Python. JMLR 12, 2825–2830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459736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465576" y="24597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Guestrin, C. (2016). XGBoost: A Scalable Tree Boosting System. KDD '16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320954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65576" y="3209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Ke, G. et al. (2017). LightGBM: A Highly Efficient Gradient Boosting Decision Tree. NIPS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95935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465576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McKinney, W. (2010). Data Structures for Statistical Computing in Python. SciPy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08776" y="12344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208776" y="123444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300216" y="1280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Literature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81928" y="170992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09944" y="17099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Lv, Y. et al. (2015). Traffic Flow Prediction with Big Data: A Deep Learning Approach. IEEE TITS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81928" y="2459736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409944" y="24597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J. et al. (2017). Deep Spatio-Temporal Residual Networks for Citywide Crowd Flows Prediction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81928" y="3209544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409944" y="32095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Bao, J. et al. (2020). Spatiotemporal Attention for Multivariate Time Series Prediction and Interpretation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3959352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409944" y="3959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J. et al. (2021). Traffic speed prediction for urban transportation networks. Transport. Res. Part 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2227</Words>
  <Application>Microsoft Office PowerPoint</Application>
  <PresentationFormat>Affichage à l'écran (16:9)</PresentationFormat>
  <Paragraphs>379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Urban Traffic Congestion in Dublin</dc:title>
  <dc:subject>PptxGenJS Presentation</dc:subject>
  <dc:creator>Jules Francois</dc:creator>
  <cp:lastModifiedBy>Quentin Chofflet</cp:lastModifiedBy>
  <cp:revision>2</cp:revision>
  <dcterms:created xsi:type="dcterms:W3CDTF">2026-04-07T12:38:56Z</dcterms:created>
  <dcterms:modified xsi:type="dcterms:W3CDTF">2026-04-07T13:34:13Z</dcterms:modified>
</cp:coreProperties>
</file>